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Demo: mounting a private blob container into an AKS pod using the Blob CSI driver with BlobFuse, authenticated via Microsoft Entra Workload ID — no storage account keys.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Frame the pain: key management and the deprecated pod identity. Workload Identity narrows scope to a single ServiceAccount.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left to right: pod + SA, CSI driver, OIDC issuer; token exchanged at Entra via federated credential mapped to the UAMI; UAMI holds RBAC on the storage account; CSI driver mounts the container with BlobFuse.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Standard OIDC federation: SA token in, Entra token out. Emphasize issuer+subject matching in the federated credential.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Cilium data plane and overlay networking are incidental here; the three highlighted lines are what matter for this scenario.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Three role assignments exist in the repo (Blob Data Owner, Account Contributor, Blob Data Contributor); minimum for token-only mode is Blob Data Contributor.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Supported account types for ADLS: Standard general-purpose v2 and Premium block blob.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Static provisioning shown; dynamic provisioning via StorageClass parameters also supported. NFS protocol is NOT supported with workload identity (no credentials at mount time).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Demo flow: apply infra, apply manifests, exec into pod, show the file in the portal.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Table row fills: header teal; alternate light rows handled by PowerPoint default — keep simple.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with the security story and the version caveat.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418320" y="-1463040"/>
            <a:ext cx="4754880" cy="475488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3" name="Shape 1"/>
          <p:cNvSpPr/>
          <p:nvPr/>
        </p:nvSpPr>
        <p:spPr>
          <a:xfrm>
            <a:off x="10424160" y="-548640"/>
            <a:ext cx="2834640" cy="283464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4" name="Shape 2"/>
          <p:cNvSpPr/>
          <p:nvPr/>
        </p:nvSpPr>
        <p:spPr>
          <a:xfrm>
            <a:off x="-1280160" y="5120640"/>
            <a:ext cx="3474720" cy="347472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2148840"/>
            <a:ext cx="106984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AKS + BlobFuse + Workload Identity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731520" y="3520440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Mounting private Azure Blob Storage (ADLS Gen2) into pods — no keys, no secrets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731520" y="5394960"/>
            <a:ext cx="5486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9FB6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Houssem Dellai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9FB6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Solution Architect, Microsoft</a:t>
            </a:r>
            <a:endParaRPr lang="en-US" sz="1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Workload Identity?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1440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760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 with keys and node-level identities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463040"/>
            <a:ext cx="502920" cy="502920"/>
          </a:xfrm>
          <a:prstGeom prst="ellipse">
            <a:avLst/>
          </a:prstGeom>
          <a:solidFill>
            <a:srgbClr val="B85042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4630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FFFFFF"/>
                </a:solidFill>
              </a:rPr>
              <a:t>⚠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371600" y="141732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Storage account keys are secrets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1371600" y="178308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760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Keys in Kubernetes Secrets must be created, distributed, rotated, and audited — every copy is a leak risk.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640080" y="2670048"/>
            <a:ext cx="502920" cy="50292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267004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FFFFFF"/>
                </a:solidFill>
              </a:rPr>
              <a:t>⬢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1371600" y="2624328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 identity = broad blast radius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1371600" y="2990088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760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Kubelet / node-level managed identity is shared by every pod on the node unless isolated.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640080" y="3877056"/>
            <a:ext cx="502920" cy="502920"/>
          </a:xfrm>
          <a:prstGeom prst="ellipse">
            <a:avLst/>
          </a:prstGeom>
          <a:solidFill>
            <a:srgbClr val="57606A"/>
          </a:solidFill>
          <a:ln/>
        </p:spPr>
      </p:sp>
      <p:sp>
        <p:nvSpPr>
          <p:cNvPr id="13" name="Text 11"/>
          <p:cNvSpPr/>
          <p:nvPr/>
        </p:nvSpPr>
        <p:spPr>
          <a:xfrm>
            <a:off x="640080" y="3877056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FFFFFF"/>
                </a:solidFill>
              </a:rPr>
              <a:t>✖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1371600" y="3831336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Pod Identity (aad-pod-identity) is deprecated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1371600" y="4197096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760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Workload Identity is its successor and the recommended standard for pod-to-Azure auth.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640080" y="5084064"/>
            <a:ext cx="502920" cy="502920"/>
          </a:xfrm>
          <a:prstGeom prst="ellipse">
            <a:avLst/>
          </a:prstGeom>
          <a:solidFill>
            <a:srgbClr val="2C7A4B"/>
          </a:solidFill>
          <a:ln/>
        </p:spPr>
      </p:sp>
      <p:sp>
        <p:nvSpPr>
          <p:cNvPr id="17" name="Text 15"/>
          <p:cNvSpPr/>
          <p:nvPr/>
        </p:nvSpPr>
        <p:spPr>
          <a:xfrm>
            <a:off x="640080" y="5084064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FFFFFF"/>
                </a:solidFill>
              </a:rPr>
              <a:t>✓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1371600" y="5038344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Workload Identity: per-pod, keyless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1371600" y="5404104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760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OIDC token exchange scoped to one ServiceAccount in one namespace. Nothing to store or rotate.</a:t>
            </a:r>
            <a:endParaRPr lang="en-US" sz="13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Architecture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325880"/>
            <a:ext cx="5120640" cy="3840480"/>
          </a:xfrm>
          <a:prstGeom prst="roundRect">
            <a:avLst>
              <a:gd name="adj" fmla="val 1905"/>
            </a:avLst>
          </a:prstGeom>
          <a:solidFill>
            <a:srgbClr val="FFFFFF">
              <a:alpha val="0"/>
            </a:srgbClr>
          </a:solidFill>
          <a:ln w="12700">
            <a:solidFill>
              <a:srgbClr val="8C959F"/>
            </a:solidFill>
            <a:prstDash val="dash"/>
          </a:ln>
        </p:spPr>
      </p:sp>
      <p:sp>
        <p:nvSpPr>
          <p:cNvPr id="4" name="Text 2"/>
          <p:cNvSpPr/>
          <p:nvPr/>
        </p:nvSpPr>
        <p:spPr>
          <a:xfrm>
            <a:off x="685800" y="1380744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5760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AKS Cluster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6126480" y="1325880"/>
            <a:ext cx="2743200" cy="2377440"/>
          </a:xfrm>
          <a:prstGeom prst="roundRect">
            <a:avLst>
              <a:gd name="adj" fmla="val 3077"/>
            </a:avLst>
          </a:prstGeom>
          <a:solidFill>
            <a:srgbClr val="FFFFFF">
              <a:alpha val="0"/>
            </a:srgbClr>
          </a:solidFill>
          <a:ln w="12700">
            <a:solidFill>
              <a:srgbClr val="8C959F"/>
            </a:solidFill>
            <a:prstDash val="dash"/>
          </a:ln>
        </p:spPr>
      </p:sp>
      <p:sp>
        <p:nvSpPr>
          <p:cNvPr id="6" name="Text 4"/>
          <p:cNvSpPr/>
          <p:nvPr/>
        </p:nvSpPr>
        <p:spPr>
          <a:xfrm>
            <a:off x="6263640" y="1380744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5760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Microsoft Entra ID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126480" y="3977640"/>
            <a:ext cx="5486400" cy="2148840"/>
          </a:xfrm>
          <a:prstGeom prst="roundRect">
            <a:avLst>
              <a:gd name="adj" fmla="val 3404"/>
            </a:avLst>
          </a:prstGeom>
          <a:solidFill>
            <a:srgbClr val="FFFFFF">
              <a:alpha val="0"/>
            </a:srgbClr>
          </a:solidFill>
          <a:ln w="12700">
            <a:solidFill>
              <a:srgbClr val="8C959F"/>
            </a:solidFill>
            <a:prstDash val="dash"/>
          </a:ln>
        </p:spPr>
      </p:sp>
      <p:sp>
        <p:nvSpPr>
          <p:cNvPr id="8" name="Text 6"/>
          <p:cNvSpPr/>
          <p:nvPr/>
        </p:nvSpPr>
        <p:spPr>
          <a:xfrm>
            <a:off x="6263640" y="4032504"/>
            <a:ext cx="5212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5760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Storage Account  (Premium BlockBlob, HNS)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822960" y="1783080"/>
            <a:ext cx="2103120" cy="685800"/>
          </a:xfrm>
          <a:prstGeom prst="roundRect">
            <a:avLst>
              <a:gd name="adj" fmla="val 8000"/>
            </a:avLst>
          </a:prstGeom>
          <a:solidFill>
            <a:srgbClr val="EAF2F7"/>
          </a:solidFill>
          <a:ln w="15875">
            <a:solidFill>
              <a:srgbClr val="1C729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22960" y="1837944"/>
            <a:ext cx="2103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Pod (nginx)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822960" y="2130552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760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mounts /mnt/blob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3200400" y="1783080"/>
            <a:ext cx="2194560" cy="685800"/>
          </a:xfrm>
          <a:prstGeom prst="roundRect">
            <a:avLst>
              <a:gd name="adj" fmla="val 8000"/>
            </a:avLst>
          </a:prstGeom>
          <a:solidFill>
            <a:srgbClr val="EAF2F7"/>
          </a:solidFill>
          <a:ln w="15875">
            <a:solidFill>
              <a:srgbClr val="1C729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200400" y="1837944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ServiceAccount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3200400" y="2130552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760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service-account-01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822960" y="2880360"/>
            <a:ext cx="2103120" cy="685800"/>
          </a:xfrm>
          <a:prstGeom prst="roundRect">
            <a:avLst>
              <a:gd name="adj" fmla="val 8000"/>
            </a:avLst>
          </a:prstGeom>
          <a:solidFill>
            <a:srgbClr val="EDE9FE"/>
          </a:solidFill>
          <a:ln w="15875">
            <a:solidFill>
              <a:srgbClr val="7C3AE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22960" y="2935224"/>
            <a:ext cx="2103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Blob CSI Driver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822960" y="3227832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760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blob.csi.azure.com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3200400" y="2880360"/>
            <a:ext cx="2194560" cy="685800"/>
          </a:xfrm>
          <a:prstGeom prst="roundRect">
            <a:avLst>
              <a:gd name="adj" fmla="val 8000"/>
            </a:avLst>
          </a:prstGeom>
          <a:solidFill>
            <a:srgbClr val="EAF2F7"/>
          </a:solidFill>
          <a:ln w="15875">
            <a:solidFill>
              <a:srgbClr val="1C7293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200400" y="2935224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PV / PVC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3200400" y="3227832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760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azureblob-fuse-premium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1554480" y="4160520"/>
            <a:ext cx="3108960" cy="685800"/>
          </a:xfrm>
          <a:prstGeom prst="roundRect">
            <a:avLst>
              <a:gd name="adj" fmla="val 8000"/>
            </a:avLst>
          </a:prstGeom>
          <a:solidFill>
            <a:srgbClr val="DBEAFE"/>
          </a:solidFill>
          <a:ln w="15875">
            <a:solidFill>
              <a:srgbClr val="065A82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554480" y="4215384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OIDC Issuer</a:t>
            </a:r>
            <a:endParaRPr lang="en-US" sz="1350" dirty="0"/>
          </a:p>
        </p:txBody>
      </p:sp>
      <p:sp>
        <p:nvSpPr>
          <p:cNvPr id="23" name="Text 21"/>
          <p:cNvSpPr/>
          <p:nvPr/>
        </p:nvSpPr>
        <p:spPr>
          <a:xfrm>
            <a:off x="1554480" y="4507992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760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oidc_issuer_enabled = true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6355080" y="1783080"/>
            <a:ext cx="2286000" cy="685800"/>
          </a:xfrm>
          <a:prstGeom prst="roundRect">
            <a:avLst>
              <a:gd name="adj" fmla="val 8000"/>
            </a:avLst>
          </a:prstGeom>
          <a:solidFill>
            <a:srgbClr val="DBEAFE"/>
          </a:solidFill>
          <a:ln w="15875">
            <a:solidFill>
              <a:srgbClr val="065A82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355080" y="1837944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Federated Credential</a:t>
            </a:r>
            <a:endParaRPr lang="en-US" sz="1350" dirty="0"/>
          </a:p>
        </p:txBody>
      </p:sp>
      <p:sp>
        <p:nvSpPr>
          <p:cNvPr id="26" name="Text 24"/>
          <p:cNvSpPr/>
          <p:nvPr/>
        </p:nvSpPr>
        <p:spPr>
          <a:xfrm>
            <a:off x="6355080" y="2130552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760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OIDC trust → SA subject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6355080" y="2788920"/>
            <a:ext cx="2286000" cy="685800"/>
          </a:xfrm>
          <a:prstGeom prst="roundRect">
            <a:avLst>
              <a:gd name="adj" fmla="val 8000"/>
            </a:avLst>
          </a:prstGeom>
          <a:solidFill>
            <a:srgbClr val="EDE9FE"/>
          </a:solidFill>
          <a:ln w="15875">
            <a:solidFill>
              <a:srgbClr val="7C3AED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355080" y="2843784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Managed Identity</a:t>
            </a:r>
            <a:endParaRPr lang="en-US" sz="1350" dirty="0"/>
          </a:p>
        </p:txBody>
      </p:sp>
      <p:sp>
        <p:nvSpPr>
          <p:cNvPr id="29" name="Text 27"/>
          <p:cNvSpPr/>
          <p:nvPr/>
        </p:nvSpPr>
        <p:spPr>
          <a:xfrm>
            <a:off x="6355080" y="3136392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760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user-assigned (clientID)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6355080" y="4526280"/>
            <a:ext cx="2377440" cy="685800"/>
          </a:xfrm>
          <a:prstGeom prst="roundRect">
            <a:avLst>
              <a:gd name="adj" fmla="val 8000"/>
            </a:avLst>
          </a:prstGeom>
          <a:solidFill>
            <a:srgbClr val="EAF2F7"/>
          </a:solidFill>
          <a:ln w="15875">
            <a:solidFill>
              <a:srgbClr val="1C7293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355080" y="4581144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Blob Container</a:t>
            </a:r>
            <a:endParaRPr lang="en-US" sz="1350" dirty="0"/>
          </a:p>
        </p:txBody>
      </p:sp>
      <p:sp>
        <p:nvSpPr>
          <p:cNvPr id="32" name="Text 30"/>
          <p:cNvSpPr/>
          <p:nvPr/>
        </p:nvSpPr>
        <p:spPr>
          <a:xfrm>
            <a:off x="6355080" y="4873752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760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private, ADLS Gen2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9006840" y="4526280"/>
            <a:ext cx="2377440" cy="685800"/>
          </a:xfrm>
          <a:prstGeom prst="roundRect">
            <a:avLst>
              <a:gd name="adj" fmla="val 8000"/>
            </a:avLst>
          </a:prstGeom>
          <a:solidFill>
            <a:srgbClr val="EAF2F7"/>
          </a:solidFill>
          <a:ln w="15875">
            <a:solidFill>
              <a:srgbClr val="1C7293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9006840" y="4581144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RBAC Role</a:t>
            </a:r>
            <a:endParaRPr lang="en-US" sz="1350" dirty="0"/>
          </a:p>
        </p:txBody>
      </p:sp>
      <p:sp>
        <p:nvSpPr>
          <p:cNvPr id="35" name="Text 33"/>
          <p:cNvSpPr/>
          <p:nvPr/>
        </p:nvSpPr>
        <p:spPr>
          <a:xfrm>
            <a:off x="9006840" y="4873752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760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Storage Blob Data Contributor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2926080" y="2121408"/>
            <a:ext cx="274320" cy="0"/>
          </a:xfrm>
          <a:prstGeom prst="line">
            <a:avLst/>
          </a:prstGeom>
          <a:noFill/>
          <a:ln w="22225">
            <a:solidFill>
              <a:srgbClr val="57606A"/>
            </a:solidFill>
            <a:prstDash val="solid"/>
            <a:tailEnd type="triangle"/>
          </a:ln>
        </p:spPr>
      </p:sp>
      <p:sp>
        <p:nvSpPr>
          <p:cNvPr id="37" name="Shape 35"/>
          <p:cNvSpPr/>
          <p:nvPr/>
        </p:nvSpPr>
        <p:spPr>
          <a:xfrm>
            <a:off x="1874520" y="2468880"/>
            <a:ext cx="0" cy="411480"/>
          </a:xfrm>
          <a:prstGeom prst="line">
            <a:avLst/>
          </a:prstGeom>
          <a:noFill/>
          <a:ln w="22225">
            <a:solidFill>
              <a:srgbClr val="57606A"/>
            </a:solidFill>
            <a:prstDash val="solid"/>
            <a:tailEnd type="triangle"/>
          </a:ln>
        </p:spPr>
      </p:sp>
      <p:sp>
        <p:nvSpPr>
          <p:cNvPr id="38" name="Shape 36"/>
          <p:cNvSpPr/>
          <p:nvPr/>
        </p:nvSpPr>
        <p:spPr>
          <a:xfrm>
            <a:off x="4297680" y="2468880"/>
            <a:ext cx="0" cy="411480"/>
          </a:xfrm>
          <a:prstGeom prst="line">
            <a:avLst/>
          </a:prstGeom>
          <a:noFill/>
          <a:ln w="22225">
            <a:solidFill>
              <a:srgbClr val="57606A"/>
            </a:solidFill>
            <a:prstDash val="solid"/>
            <a:tailEnd type="triangle"/>
          </a:ln>
        </p:spPr>
      </p:sp>
      <p:sp>
        <p:nvSpPr>
          <p:cNvPr id="39" name="Shape 37"/>
          <p:cNvSpPr/>
          <p:nvPr/>
        </p:nvSpPr>
        <p:spPr>
          <a:xfrm>
            <a:off x="2926080" y="3218688"/>
            <a:ext cx="274320" cy="0"/>
          </a:xfrm>
          <a:prstGeom prst="line">
            <a:avLst/>
          </a:prstGeom>
          <a:noFill/>
          <a:ln w="22225">
            <a:solidFill>
              <a:srgbClr val="57606A"/>
            </a:solidFill>
            <a:prstDash val="solid"/>
            <a:tailEnd type="triangle"/>
          </a:ln>
        </p:spPr>
      </p:sp>
      <p:sp>
        <p:nvSpPr>
          <p:cNvPr id="40" name="Shape 38"/>
          <p:cNvSpPr/>
          <p:nvPr/>
        </p:nvSpPr>
        <p:spPr>
          <a:xfrm>
            <a:off x="3108960" y="4160520"/>
            <a:ext cx="0" cy="-594360"/>
          </a:xfrm>
          <a:prstGeom prst="line">
            <a:avLst/>
          </a:prstGeom>
          <a:noFill/>
          <a:ln w="22225">
            <a:solidFill>
              <a:srgbClr val="57606A"/>
            </a:solidFill>
            <a:prstDash val="solid"/>
            <a:tailEnd type="triangle"/>
          </a:ln>
        </p:spPr>
      </p:sp>
      <p:sp>
        <p:nvSpPr>
          <p:cNvPr id="41" name="Shape 39"/>
          <p:cNvSpPr/>
          <p:nvPr/>
        </p:nvSpPr>
        <p:spPr>
          <a:xfrm>
            <a:off x="4663440" y="4480560"/>
            <a:ext cx="1691640" cy="-1188720"/>
          </a:xfrm>
          <a:prstGeom prst="line">
            <a:avLst/>
          </a:prstGeom>
          <a:noFill/>
          <a:ln w="22225">
            <a:solidFill>
              <a:srgbClr val="57606A"/>
            </a:solidFill>
            <a:prstDash val="solid"/>
            <a:tailEnd type="triangle"/>
          </a:ln>
        </p:spPr>
      </p:sp>
      <p:sp>
        <p:nvSpPr>
          <p:cNvPr id="42" name="Shape 40"/>
          <p:cNvSpPr/>
          <p:nvPr/>
        </p:nvSpPr>
        <p:spPr>
          <a:xfrm>
            <a:off x="7498080" y="2468880"/>
            <a:ext cx="0" cy="320040"/>
          </a:xfrm>
          <a:prstGeom prst="line">
            <a:avLst/>
          </a:prstGeom>
          <a:noFill/>
          <a:ln w="22225">
            <a:solidFill>
              <a:srgbClr val="57606A"/>
            </a:solidFill>
            <a:prstDash val="solid"/>
            <a:tailEnd type="triangle"/>
          </a:ln>
        </p:spPr>
      </p:sp>
      <p:sp>
        <p:nvSpPr>
          <p:cNvPr id="43" name="Shape 41"/>
          <p:cNvSpPr/>
          <p:nvPr/>
        </p:nvSpPr>
        <p:spPr>
          <a:xfrm>
            <a:off x="7498080" y="3474720"/>
            <a:ext cx="0" cy="1051560"/>
          </a:xfrm>
          <a:prstGeom prst="line">
            <a:avLst/>
          </a:prstGeom>
          <a:noFill/>
          <a:ln w="22225">
            <a:solidFill>
              <a:srgbClr val="57606A"/>
            </a:solidFill>
            <a:prstDash val="solid"/>
            <a:tailEnd type="triangle"/>
          </a:ln>
        </p:spPr>
      </p:sp>
      <p:sp>
        <p:nvSpPr>
          <p:cNvPr id="44" name="Shape 42"/>
          <p:cNvSpPr/>
          <p:nvPr/>
        </p:nvSpPr>
        <p:spPr>
          <a:xfrm>
            <a:off x="2926080" y="3063240"/>
            <a:ext cx="3429000" cy="1600200"/>
          </a:xfrm>
          <a:prstGeom prst="line">
            <a:avLst/>
          </a:prstGeom>
          <a:noFill/>
          <a:ln w="22225">
            <a:solidFill>
              <a:srgbClr val="57606A"/>
            </a:solidFill>
            <a:prstDash val="dash"/>
            <a:tailEnd type="triangle"/>
          </a:ln>
        </p:spPr>
      </p:sp>
      <p:sp>
        <p:nvSpPr>
          <p:cNvPr id="45" name="Text 43"/>
          <p:cNvSpPr/>
          <p:nvPr/>
        </p:nvSpPr>
        <p:spPr>
          <a:xfrm>
            <a:off x="5029200" y="452628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760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 exchange</a:t>
            </a:r>
            <a:endParaRPr lang="en-US" sz="1050" dirty="0"/>
          </a:p>
        </p:txBody>
      </p:sp>
      <p:sp>
        <p:nvSpPr>
          <p:cNvPr id="46" name="Text 44"/>
          <p:cNvSpPr/>
          <p:nvPr/>
        </p:nvSpPr>
        <p:spPr>
          <a:xfrm>
            <a:off x="3291840" y="5285232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760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BlobFuse mount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the Token Exchange Works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1440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760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secret ever touches the cluster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554480"/>
            <a:ext cx="384048" cy="384048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5544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1280160" y="1481328"/>
            <a:ext cx="10241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CSI driver requests a ServiceAccount token</a:t>
            </a:r>
            <a:endParaRPr lang="en-US" sz="1650" dirty="0"/>
          </a:p>
        </p:txBody>
      </p:sp>
      <p:sp>
        <p:nvSpPr>
          <p:cNvPr id="7" name="Text 5"/>
          <p:cNvSpPr/>
          <p:nvPr/>
        </p:nvSpPr>
        <p:spPr>
          <a:xfrm>
            <a:off x="1280160" y="1847088"/>
            <a:ext cx="10241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760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Blob CSI driver asks the kubelet for a projected token of the pod's ServiceAccount (audience: api://AzureADTokenExchange).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832104" y="1965960"/>
            <a:ext cx="0" cy="777240"/>
          </a:xfrm>
          <a:prstGeom prst="line">
            <a:avLst/>
          </a:prstGeom>
          <a:noFill/>
          <a:ln w="19050">
            <a:solidFill>
              <a:srgbClr val="C3D4E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40080" y="2761488"/>
            <a:ext cx="384048" cy="384048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0" name="Text 8"/>
          <p:cNvSpPr/>
          <p:nvPr/>
        </p:nvSpPr>
        <p:spPr>
          <a:xfrm>
            <a:off x="640080" y="27614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1280160" y="2688336"/>
            <a:ext cx="10241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 sent to Microsoft Entra ID</a:t>
            </a:r>
            <a:endParaRPr lang="en-US" sz="1650" dirty="0"/>
          </a:p>
        </p:txBody>
      </p:sp>
      <p:sp>
        <p:nvSpPr>
          <p:cNvPr id="12" name="Text 10"/>
          <p:cNvSpPr/>
          <p:nvPr/>
        </p:nvSpPr>
        <p:spPr>
          <a:xfrm>
            <a:off x="1280160" y="3054096"/>
            <a:ext cx="10241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760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 token is presented to Entra ID together with the managed identity's clientID from the PV volumeAttributes.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832104" y="3172968"/>
            <a:ext cx="0" cy="777240"/>
          </a:xfrm>
          <a:prstGeom prst="line">
            <a:avLst/>
          </a:prstGeom>
          <a:noFill/>
          <a:ln w="19050">
            <a:solidFill>
              <a:srgbClr val="C3D4E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40080" y="3968496"/>
            <a:ext cx="384048" cy="384048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5" name="Text 13"/>
          <p:cNvSpPr/>
          <p:nvPr/>
        </p:nvSpPr>
        <p:spPr>
          <a:xfrm>
            <a:off x="640080" y="396849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1280160" y="3895344"/>
            <a:ext cx="10241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Federated credential validates the token</a:t>
            </a:r>
            <a:endParaRPr lang="en-US" sz="1650" dirty="0"/>
          </a:p>
        </p:txBody>
      </p:sp>
      <p:sp>
        <p:nvSpPr>
          <p:cNvPr id="17" name="Text 15"/>
          <p:cNvSpPr/>
          <p:nvPr/>
        </p:nvSpPr>
        <p:spPr>
          <a:xfrm>
            <a:off x="1280160" y="4261104"/>
            <a:ext cx="10241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760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Entra ID checks issuer (AKS OIDC issuer URL) and subject (system:serviceaccount:default:service-account-01) against the federated identity credential.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832104" y="4379976"/>
            <a:ext cx="0" cy="777240"/>
          </a:xfrm>
          <a:prstGeom prst="line">
            <a:avLst/>
          </a:prstGeom>
          <a:noFill/>
          <a:ln w="19050">
            <a:solidFill>
              <a:srgbClr val="C3D4E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40080" y="5175504"/>
            <a:ext cx="384048" cy="384048"/>
          </a:xfrm>
          <a:prstGeom prst="ellipse">
            <a:avLst/>
          </a:prstGeom>
          <a:solidFill>
            <a:srgbClr val="2C7A4B"/>
          </a:solidFill>
          <a:ln/>
        </p:spPr>
      </p:sp>
      <p:sp>
        <p:nvSpPr>
          <p:cNvPr id="20" name="Text 18"/>
          <p:cNvSpPr/>
          <p:nvPr/>
        </p:nvSpPr>
        <p:spPr>
          <a:xfrm>
            <a:off x="640080" y="517550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1280160" y="5102352"/>
            <a:ext cx="10241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Entra access token → BlobFuse mounts</a:t>
            </a:r>
            <a:endParaRPr lang="en-US" sz="1650" dirty="0"/>
          </a:p>
        </p:txBody>
      </p:sp>
      <p:sp>
        <p:nvSpPr>
          <p:cNvPr id="22" name="Text 20"/>
          <p:cNvSpPr/>
          <p:nvPr/>
        </p:nvSpPr>
        <p:spPr>
          <a:xfrm>
            <a:off x="1280160" y="5468112"/>
            <a:ext cx="10241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760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returned Entra token authorizes BlobFuse against Blob Storage via the identity's RBAC roles. Pod reads/writes /mnt/blob.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Terraform — AKS Cluster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1440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760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aks.tf: two flags enable Workload Identity, one enables the Blob CSI driver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6035040" cy="4480560"/>
          </a:xfrm>
          <a:prstGeom prst="roundRect">
            <a:avLst>
              <a:gd name="adj" fmla="val 1633"/>
            </a:avLst>
          </a:prstGeom>
          <a:solidFill>
            <a:srgbClr val="0F1B2D"/>
          </a:solidFill>
          <a:ln/>
        </p:spPr>
      </p:sp>
      <p:sp>
        <p:nvSpPr>
          <p:cNvPr id="5" name="Text 3"/>
          <p:cNvSpPr/>
          <p:nvPr/>
        </p:nvSpPr>
        <p:spPr>
          <a:xfrm>
            <a:off x="777240" y="1600200"/>
            <a:ext cx="5577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2C3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aks.tf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77240" y="1920240"/>
            <a:ext cx="5577840" cy="3886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9FB6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resource "azurerm_kubernetes_cluster" "aks" {</a:t>
            </a: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D8E4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name                      = "aks-cluster"</a:t>
            </a: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02C3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oidc_issuer_enabled       = true</a:t>
            </a: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02C3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workload_identity_enabled = true</a:t>
            </a: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D8E4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identity { type = "SystemAssigned" }</a:t>
            </a: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D8E4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network_profile {</a:t>
            </a: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D8E4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network_plugin      = "azure"</a:t>
            </a: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D8E4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network_plugin_mode = "overlay"</a:t>
            </a: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D8E4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network_data_plane  = "cilium"</a:t>
            </a: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D8E4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</a:t>
            </a: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D8E4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storage_profile {</a:t>
            </a: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02C3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blob_driver_enabled = true</a:t>
            </a: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D8E4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</a:t>
            </a: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9FB6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6858000" y="1600200"/>
            <a:ext cx="4754880" cy="1234440"/>
          </a:xfrm>
          <a:prstGeom prst="roundRect">
            <a:avLst>
              <a:gd name="adj" fmla="val 4444"/>
            </a:avLst>
          </a:prstGeom>
          <a:solidFill>
            <a:srgbClr val="EAF2F7"/>
          </a:solidFill>
          <a:ln/>
        </p:spPr>
      </p:sp>
      <p:sp>
        <p:nvSpPr>
          <p:cNvPr id="8" name="Text 6"/>
          <p:cNvSpPr/>
          <p:nvPr/>
        </p:nvSpPr>
        <p:spPr>
          <a:xfrm>
            <a:off x="7086600" y="1709928"/>
            <a:ext cx="4297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65A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oidc_issuer_enabled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7086600" y="2057400"/>
            <a:ext cx="4297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Publishes the cluster's OIDC discovery endpoint that Entra ID will trust.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858000" y="3017520"/>
            <a:ext cx="4754880" cy="1234440"/>
          </a:xfrm>
          <a:prstGeom prst="roundRect">
            <a:avLst>
              <a:gd name="adj" fmla="val 4444"/>
            </a:avLst>
          </a:prstGeom>
          <a:solidFill>
            <a:srgbClr val="EAF2F7"/>
          </a:solidFill>
          <a:ln/>
        </p:spPr>
      </p:sp>
      <p:sp>
        <p:nvSpPr>
          <p:cNvPr id="11" name="Text 9"/>
          <p:cNvSpPr/>
          <p:nvPr/>
        </p:nvSpPr>
        <p:spPr>
          <a:xfrm>
            <a:off x="7086600" y="3127248"/>
            <a:ext cx="4297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65A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workload_identity_enabled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7086600" y="3474720"/>
            <a:ext cx="4297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Deploys the workload identity webhook (used by annotated pods; CSI driver reads tokens directly).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858000" y="4434840"/>
            <a:ext cx="4754880" cy="1234440"/>
          </a:xfrm>
          <a:prstGeom prst="roundRect">
            <a:avLst>
              <a:gd name="adj" fmla="val 4444"/>
            </a:avLst>
          </a:prstGeom>
          <a:solidFill>
            <a:srgbClr val="EAF2F7"/>
          </a:solidFill>
          <a:ln/>
        </p:spPr>
      </p:sp>
      <p:sp>
        <p:nvSpPr>
          <p:cNvPr id="14" name="Text 12"/>
          <p:cNvSpPr/>
          <p:nvPr/>
        </p:nvSpPr>
        <p:spPr>
          <a:xfrm>
            <a:off x="7086600" y="4544568"/>
            <a:ext cx="4297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65A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blob_driver_enabled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7086600" y="4892040"/>
            <a:ext cx="4297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Enables the managed Blob CSI driver — no Helm install needed.</a:t>
            </a:r>
            <a:endParaRPr lang="en-US" sz="12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Terraform — Identity &amp; Federation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1440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760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identity_wi.tf: UAMI + RBAC + federated credential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6583680" cy="4480560"/>
          </a:xfrm>
          <a:prstGeom prst="roundRect">
            <a:avLst>
              <a:gd name="adj" fmla="val 1633"/>
            </a:avLst>
          </a:prstGeom>
          <a:solidFill>
            <a:srgbClr val="0F1B2D"/>
          </a:solidFill>
          <a:ln/>
        </p:spPr>
      </p:sp>
      <p:sp>
        <p:nvSpPr>
          <p:cNvPr id="5" name="Text 3"/>
          <p:cNvSpPr/>
          <p:nvPr/>
        </p:nvSpPr>
        <p:spPr>
          <a:xfrm>
            <a:off x="777240" y="1600200"/>
            <a:ext cx="6126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2C3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identity_wi.tf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77240" y="1920240"/>
            <a:ext cx="6126480" cy="3886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9FB6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resource "azurerm_user_assigned_identity" "identity_wi" {</a:t>
            </a: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D8E4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name = "identity-wi"</a:t>
            </a: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9FB6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9FB6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resource "azurerm_role_assignment" "..." {</a:t>
            </a: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D8E4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scope                = azurerm_storage_account.sa.id</a:t>
            </a: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02C3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role_definition_name = "Storage Blob Data Contributor"</a:t>
            </a: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D8E4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principal_id         = ...identity_wi.principal_id</a:t>
            </a: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9FB6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9FB6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resource "azurerm_federated_identity_credential" "identity_wi" {</a:t>
            </a: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D8E4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audience = ["api://AzureADTokenExchange"]</a:t>
            </a: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02C3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issuer   = azurerm_kubernetes_cluster.aks.oidc_issuer_url</a:t>
            </a: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02C3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subject  = "system:serviceaccount:default:service-account-01"</a:t>
            </a: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9FB6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7406640" y="1600200"/>
            <a:ext cx="4206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federated credential is the trust anchor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406640" y="2240280"/>
            <a:ext cx="420624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0"/>
              </a:spcAft>
              <a:buNone/>
            </a:pPr>
            <a:r>
              <a:rPr lang="en-US" sz="1300" dirty="0">
                <a:solidFill>
                  <a:srgbClr val="5760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issuer + subject pin the trust to exactly one ServiceAccount in one namespace.</a:t>
            </a:r>
            <a:endParaRPr lang="en-US" sz="13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300" dirty="0">
                <a:solidFill>
                  <a:srgbClr val="5760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certificate, no secret — the trust is the OIDC discovery document.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5760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Token-only mode needs Storage Blob Data Contributor; classic mode retrieves the account key via Storage Account Contributor.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Terraform — Storage Account (ADLS Gen2)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1440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760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storage_account.tf: Premium block blob with hierarchical namespace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6035040" cy="3200400"/>
          </a:xfrm>
          <a:prstGeom prst="roundRect">
            <a:avLst>
              <a:gd name="adj" fmla="val 2286"/>
            </a:avLst>
          </a:prstGeom>
          <a:solidFill>
            <a:srgbClr val="0F1B2D"/>
          </a:solidFill>
          <a:ln/>
        </p:spPr>
      </p:sp>
      <p:sp>
        <p:nvSpPr>
          <p:cNvPr id="5" name="Text 3"/>
          <p:cNvSpPr/>
          <p:nvPr/>
        </p:nvSpPr>
        <p:spPr>
          <a:xfrm>
            <a:off x="777240" y="1600200"/>
            <a:ext cx="5577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2C3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storage_account.tf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77240" y="1920240"/>
            <a:ext cx="5577840" cy="2606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9FB6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resource "azurerm_storage_account" "sa" {</a:t>
            </a: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02C3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account_tier             = "Premium"</a:t>
            </a: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02C3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account_kind             = "BlockBlobStorage"</a:t>
            </a: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D8E4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account_replication_type = "LRS"</a:t>
            </a: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02C3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is_hns_enabled           = true   # ADLS Gen2</a:t>
            </a: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9FB6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9FB6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resource "azurerm_storage_container" "container-01" {</a:t>
            </a: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D8E4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container_access_type = "private"</a:t>
            </a: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9FB6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6858000" y="1600200"/>
            <a:ext cx="4754880" cy="1234440"/>
          </a:xfrm>
          <a:prstGeom prst="roundRect">
            <a:avLst>
              <a:gd name="adj" fmla="val 4444"/>
            </a:avLst>
          </a:prstGeom>
          <a:solidFill>
            <a:srgbClr val="EAF2F7"/>
          </a:solidFill>
          <a:ln/>
        </p:spPr>
      </p:sp>
      <p:sp>
        <p:nvSpPr>
          <p:cNvPr id="8" name="Text 6"/>
          <p:cNvSpPr/>
          <p:nvPr/>
        </p:nvSpPr>
        <p:spPr>
          <a:xfrm>
            <a:off x="7086600" y="1709928"/>
            <a:ext cx="4297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BlobFuse stores files as block blobs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7086600" y="2057400"/>
            <a:ext cx="4297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Premium block blob gives low-latency FUSE mounts; Standard GPv2 also supports ADLS.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858000" y="3017520"/>
            <a:ext cx="4754880" cy="1234440"/>
          </a:xfrm>
          <a:prstGeom prst="roundRect">
            <a:avLst>
              <a:gd name="adj" fmla="val 4444"/>
            </a:avLst>
          </a:prstGeom>
          <a:solidFill>
            <a:srgbClr val="EAF2F7"/>
          </a:solidFill>
          <a:ln/>
        </p:spPr>
      </p:sp>
      <p:sp>
        <p:nvSpPr>
          <p:cNvPr id="11" name="Text 9"/>
          <p:cNvSpPr/>
          <p:nvPr/>
        </p:nvSpPr>
        <p:spPr>
          <a:xfrm>
            <a:off x="7086600" y="3127248"/>
            <a:ext cx="4297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HNS = real directories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7086600" y="3474720"/>
            <a:ext cx="4297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Hierarchical namespace enables POSIX-like folder semantics (Data Lake Gen2 filesystem + paths).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858000" y="4434840"/>
            <a:ext cx="4754880" cy="1234440"/>
          </a:xfrm>
          <a:prstGeom prst="roundRect">
            <a:avLst>
              <a:gd name="adj" fmla="val 4444"/>
            </a:avLst>
          </a:prstGeom>
          <a:solidFill>
            <a:srgbClr val="EAF2F7"/>
          </a:solidFill>
          <a:ln/>
        </p:spPr>
      </p:sp>
      <p:sp>
        <p:nvSpPr>
          <p:cNvPr id="14" name="Text 12"/>
          <p:cNvSpPr/>
          <p:nvPr/>
        </p:nvSpPr>
        <p:spPr>
          <a:xfrm>
            <a:off x="7086600" y="4544568"/>
            <a:ext cx="4297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Private container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7086600" y="4892040"/>
            <a:ext cx="4297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anonymous access — all data-plane access flows through Entra RBAC.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548640" y="5029200"/>
            <a:ext cx="6035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5760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 also creates a Data Lake Gen2 filesystem (container02) with a nested directory to demo ADLS paths.</a:t>
            </a:r>
            <a:endParaRPr lang="en-US" sz="12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Kubernetes — Static PV with BlobFuse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1440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760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PV's volumeAttributes carry the identity — no SA annotation needed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6309360" cy="4480560"/>
          </a:xfrm>
          <a:prstGeom prst="roundRect">
            <a:avLst>
              <a:gd name="adj" fmla="val 1633"/>
            </a:avLst>
          </a:prstGeom>
          <a:solidFill>
            <a:srgbClr val="0F1B2D"/>
          </a:solidFill>
          <a:ln/>
        </p:spPr>
      </p:sp>
      <p:sp>
        <p:nvSpPr>
          <p:cNvPr id="5" name="Text 3"/>
          <p:cNvSpPr/>
          <p:nvPr/>
        </p:nvSpPr>
        <p:spPr>
          <a:xfrm>
            <a:off x="777240" y="1600200"/>
            <a:ext cx="5852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2C3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pv_blobfuse.yaml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77240" y="1920240"/>
            <a:ext cx="5852160" cy="3886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9FB6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apiVersion: v1</a:t>
            </a: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D8E4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kind: PersistentVolume</a:t>
            </a: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D8E4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spec:</a:t>
            </a: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D8E4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accessModes: [ReadWriteMany]</a:t>
            </a: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D8E4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storageClassName: azureblob-fuse-premium</a:t>
            </a: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D8E4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csi:</a:t>
            </a: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02C3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driver: blob.csi.azure.com</a:t>
            </a: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D8E4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volumeHandle: stor4adls4aks48-container-01</a:t>
            </a: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D8E4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volumeAttributes:</a:t>
            </a: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D8E4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protocol: fuse</a:t>
            </a: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D8E4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storageAccount: stor4adls4aks48</a:t>
            </a: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D8E4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containerName: container-01</a:t>
            </a: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02C3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clientID: &lt;identity_wi client id&gt;</a:t>
            </a: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02C3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mountWithWorkloadIdentityToken: "true"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7132320" y="1600200"/>
            <a:ext cx="4480560" cy="1325880"/>
          </a:xfrm>
          <a:prstGeom prst="roundRect">
            <a:avLst>
              <a:gd name="adj" fmla="val 4138"/>
            </a:avLst>
          </a:prstGeom>
          <a:solidFill>
            <a:srgbClr val="EAF2F7"/>
          </a:solidFill>
          <a:ln/>
        </p:spPr>
      </p:sp>
      <p:sp>
        <p:nvSpPr>
          <p:cNvPr id="8" name="Text 6"/>
          <p:cNvSpPr/>
          <p:nvPr/>
        </p:nvSpPr>
        <p:spPr>
          <a:xfrm>
            <a:off x="7360920" y="1691640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65A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ServiceAccount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7360920" y="2020824"/>
            <a:ext cx="4023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Plain SA — no azure.workload.identity annotation or label. The CSI driver reads clientID from the PV and requests the SA token itself.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7132320" y="3081528"/>
            <a:ext cx="4480560" cy="1325880"/>
          </a:xfrm>
          <a:prstGeom prst="roundRect">
            <a:avLst>
              <a:gd name="adj" fmla="val 4138"/>
            </a:avLst>
          </a:prstGeom>
          <a:solidFill>
            <a:srgbClr val="EAF2F7"/>
          </a:solidFill>
          <a:ln/>
        </p:spPr>
      </p:sp>
      <p:sp>
        <p:nvSpPr>
          <p:cNvPr id="11" name="Text 9"/>
          <p:cNvSpPr/>
          <p:nvPr/>
        </p:nvSpPr>
        <p:spPr>
          <a:xfrm>
            <a:off x="7360920" y="3172968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65A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PVC + Deployment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7360920" y="3502152"/>
            <a:ext cx="4023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PVC binds by volumeName; pod sets serviceAccountName and mounts the claim at /mnt/blob.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7132320" y="4562856"/>
            <a:ext cx="4480560" cy="1325880"/>
          </a:xfrm>
          <a:prstGeom prst="roundRect">
            <a:avLst>
              <a:gd name="adj" fmla="val 4138"/>
            </a:avLst>
          </a:prstGeom>
          <a:solidFill>
            <a:srgbClr val="EAF2F7"/>
          </a:solidFill>
          <a:ln/>
        </p:spPr>
      </p:sp>
      <p:sp>
        <p:nvSpPr>
          <p:cNvPr id="14" name="Text 12"/>
          <p:cNvSpPr/>
          <p:nvPr/>
        </p:nvSpPr>
        <p:spPr>
          <a:xfrm>
            <a:off x="7360920" y="4654296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65A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mountWithWorkloadIdentityToken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7360920" y="4983480"/>
            <a:ext cx="4023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v1.27.0+: token-only mode. Without it, the driver uses the federated token to fetch the account key instead.</a:t>
            </a:r>
            <a:endParaRPr lang="en-US" sz="11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Deploy &amp; Verify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463040"/>
            <a:ext cx="5577840" cy="2286000"/>
          </a:xfrm>
          <a:prstGeom prst="roundRect">
            <a:avLst>
              <a:gd name="adj" fmla="val 3200"/>
            </a:avLst>
          </a:prstGeom>
          <a:solidFill>
            <a:srgbClr val="0F1B2D"/>
          </a:solidFill>
          <a:ln/>
        </p:spPr>
      </p:sp>
      <p:sp>
        <p:nvSpPr>
          <p:cNvPr id="4" name="Text 2"/>
          <p:cNvSpPr/>
          <p:nvPr/>
        </p:nvSpPr>
        <p:spPr>
          <a:xfrm>
            <a:off x="777240" y="1600200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2C3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terraform + kubectl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777240" y="1920240"/>
            <a:ext cx="512064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02C3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terraform init &amp;&amp; terraform apply</a:t>
            </a: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D8E4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render manifests from terraform outputs, then:</a:t>
            </a: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02C3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kubectl apply -f ./kubernetes/</a:t>
            </a: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D8E4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kubectl get pods,pvc,pv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548640" y="3977640"/>
            <a:ext cx="5577840" cy="2103120"/>
          </a:xfrm>
          <a:prstGeom prst="roundRect">
            <a:avLst>
              <a:gd name="adj" fmla="val 3478"/>
            </a:avLst>
          </a:prstGeom>
          <a:solidFill>
            <a:srgbClr val="0F1B2D"/>
          </a:solidFill>
          <a:ln/>
        </p:spPr>
      </p:sp>
      <p:sp>
        <p:nvSpPr>
          <p:cNvPr id="7" name="Text 5"/>
          <p:cNvSpPr/>
          <p:nvPr/>
        </p:nvSpPr>
        <p:spPr>
          <a:xfrm>
            <a:off x="777240" y="4114800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2C3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verify the mount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777240" y="4434840"/>
            <a:ext cx="512064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D8E4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kubectl exec deploy/deployment-blob -- \</a:t>
            </a: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02C3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cat /mnt/blob/outfile</a:t>
            </a: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D8E4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Tue Jul 28 21:02:53 UTC 2026</a:t>
            </a: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D8E4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Tue Jul 28 21:03:26 UTC 2026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6583680" y="155448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success looks like</a:t>
            </a:r>
            <a:endParaRPr lang="en-US" sz="1700" dirty="0"/>
          </a:p>
        </p:txBody>
      </p:sp>
      <p:sp>
        <p:nvSpPr>
          <p:cNvPr id="10" name="Shape 8"/>
          <p:cNvSpPr/>
          <p:nvPr/>
        </p:nvSpPr>
        <p:spPr>
          <a:xfrm>
            <a:off x="6583680" y="2103120"/>
            <a:ext cx="347472" cy="347472"/>
          </a:xfrm>
          <a:prstGeom prst="ellipse">
            <a:avLst/>
          </a:prstGeom>
          <a:solidFill>
            <a:srgbClr val="2C7A4B"/>
          </a:solidFill>
          <a:ln/>
        </p:spPr>
      </p:sp>
      <p:sp>
        <p:nvSpPr>
          <p:cNvPr id="11" name="Text 9"/>
          <p:cNvSpPr/>
          <p:nvPr/>
        </p:nvSpPr>
        <p:spPr>
          <a:xfrm>
            <a:off x="6583680" y="210312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✓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7086600" y="2029968"/>
            <a:ext cx="4526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PVC bound to the static PV (RWX, azureblob-fuse-premium)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583680" y="3017520"/>
            <a:ext cx="347472" cy="347472"/>
          </a:xfrm>
          <a:prstGeom prst="ellipse">
            <a:avLst/>
          </a:prstGeom>
          <a:solidFill>
            <a:srgbClr val="2C7A4B"/>
          </a:solidFill>
          <a:ln/>
        </p:spPr>
      </p:sp>
      <p:sp>
        <p:nvSpPr>
          <p:cNvPr id="14" name="Text 12"/>
          <p:cNvSpPr/>
          <p:nvPr/>
        </p:nvSpPr>
        <p:spPr>
          <a:xfrm>
            <a:off x="6583680" y="301752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✓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7086600" y="2944368"/>
            <a:ext cx="4526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Pod writes a timestamp to /mnt/blob/outfile every 30 s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583680" y="3931920"/>
            <a:ext cx="347472" cy="347472"/>
          </a:xfrm>
          <a:prstGeom prst="ellipse">
            <a:avLst/>
          </a:prstGeom>
          <a:solidFill>
            <a:srgbClr val="2C7A4B"/>
          </a:solidFill>
          <a:ln/>
        </p:spPr>
      </p:sp>
      <p:sp>
        <p:nvSpPr>
          <p:cNvPr id="17" name="Text 15"/>
          <p:cNvSpPr/>
          <p:nvPr/>
        </p:nvSpPr>
        <p:spPr>
          <a:xfrm>
            <a:off x="6583680" y="393192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✓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7086600" y="3858768"/>
            <a:ext cx="4526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 appears in the private container in the Azure portal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6583680" y="4846320"/>
            <a:ext cx="347472" cy="347472"/>
          </a:xfrm>
          <a:prstGeom prst="ellipse">
            <a:avLst/>
          </a:prstGeom>
          <a:solidFill>
            <a:srgbClr val="2C7A4B"/>
          </a:solidFill>
          <a:ln/>
        </p:spPr>
      </p:sp>
      <p:sp>
        <p:nvSpPr>
          <p:cNvPr id="20" name="Text 18"/>
          <p:cNvSpPr/>
          <p:nvPr/>
        </p:nvSpPr>
        <p:spPr>
          <a:xfrm>
            <a:off x="6583680" y="484632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✓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7086600" y="4773168"/>
            <a:ext cx="4526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storage key or connection string anywhere in the cluster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Workload Identity vs Managed Identity</a:t>
            </a:r>
            <a:endParaRPr lang="en-US" sz="30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54480"/>
          <a:ext cx="11064240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4526280"/>
                <a:gridCol w="4526280"/>
              </a:tblGrid>
              <a:tr h="7132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Managed Identity (node)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Workload Identity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065A8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Granularity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F23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 Azure resource — whole VM/node shares it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F23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 pod / per ServiceAccount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065A8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Mechanism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F23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IMDS call from the resource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F23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OIDC token exchange (SA token → Entra token)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065A8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Blast radius in AKS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F23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All pods on a node can use the node identity unless isolated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F23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Scoped to the SA + namespace in the federated credential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065A8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Portability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F23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Azure-only, tied to resource lifecycle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F23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Any OIDC issuer (AKS, GitHub Actions, other K8s)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065A8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Status in AKS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F23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Valid for node-level needs (CSI, autoscaler)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F23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Recommended standard; successor to Pod Identity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241280" y="4846320"/>
            <a:ext cx="3291840" cy="329184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502920"/>
            <a:ext cx="10058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Takeaways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731520" y="1691640"/>
            <a:ext cx="5120640" cy="1874520"/>
          </a:xfrm>
          <a:prstGeom prst="roundRect">
            <a:avLst>
              <a:gd name="adj" fmla="val 3902"/>
            </a:avLst>
          </a:prstGeom>
          <a:solidFill>
            <a:srgbClr val="2A3468"/>
          </a:solidFill>
          <a:ln/>
        </p:spPr>
      </p:sp>
      <p:sp>
        <p:nvSpPr>
          <p:cNvPr id="5" name="Text 3"/>
          <p:cNvSpPr/>
          <p:nvPr/>
        </p:nvSpPr>
        <p:spPr>
          <a:xfrm>
            <a:off x="1005840" y="1892808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Keyless by design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1005840" y="2313432"/>
            <a:ext cx="4572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shared_access_key can stay disabled in token-only mode — nothing to rotate, nothing to leak.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309360" y="1691640"/>
            <a:ext cx="5120640" cy="1874520"/>
          </a:xfrm>
          <a:prstGeom prst="roundRect">
            <a:avLst>
              <a:gd name="adj" fmla="val 3902"/>
            </a:avLst>
          </a:prstGeom>
          <a:solidFill>
            <a:srgbClr val="2A3468"/>
          </a:solidFill>
          <a:ln/>
        </p:spPr>
      </p:sp>
      <p:sp>
        <p:nvSpPr>
          <p:cNvPr id="8" name="Text 6"/>
          <p:cNvSpPr/>
          <p:nvPr/>
        </p:nvSpPr>
        <p:spPr>
          <a:xfrm>
            <a:off x="6583680" y="1892808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flags, one credential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6583680" y="2313432"/>
            <a:ext cx="4572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oidc_issuer_enabled + workload_identity_enabled + blob_driver_enabled, plus one federated identity credential.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731520" y="3840480"/>
            <a:ext cx="5120640" cy="1874520"/>
          </a:xfrm>
          <a:prstGeom prst="roundRect">
            <a:avLst>
              <a:gd name="adj" fmla="val 3902"/>
            </a:avLst>
          </a:prstGeom>
          <a:solidFill>
            <a:srgbClr val="2A3468"/>
          </a:solidFill>
          <a:ln/>
        </p:spPr>
      </p:sp>
      <p:sp>
        <p:nvSpPr>
          <p:cNvPr id="11" name="Text 9"/>
          <p:cNvSpPr/>
          <p:nvPr/>
        </p:nvSpPr>
        <p:spPr>
          <a:xfrm>
            <a:off x="1005840" y="4041648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Least privilege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1005840" y="4462272"/>
            <a:ext cx="4572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Token-only mode needs just Storage Blob Data Contributor on the storage account.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309360" y="3840480"/>
            <a:ext cx="5120640" cy="1874520"/>
          </a:xfrm>
          <a:prstGeom prst="roundRect">
            <a:avLst>
              <a:gd name="adj" fmla="val 3902"/>
            </a:avLst>
          </a:prstGeom>
          <a:solidFill>
            <a:srgbClr val="2A3468"/>
          </a:solidFill>
          <a:ln/>
        </p:spPr>
      </p:sp>
      <p:sp>
        <p:nvSpPr>
          <p:cNvPr id="14" name="Text 12"/>
          <p:cNvSpPr/>
          <p:nvPr/>
        </p:nvSpPr>
        <p:spPr>
          <a:xfrm>
            <a:off x="6583680" y="4041648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 the limits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6583680" y="4462272"/>
            <a:ext cx="4572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NFS mounts don't support workload identity; token-only mode requires Blob CSI driver v1.27.0+.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731520" y="612648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FB6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github.com/kubernetes-sigs/blob-csi-driver  •  learn.microsoft.com/azure/aks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2026-07-29T13:21:34Z</dcterms:created>
  <dcterms:modified xsi:type="dcterms:W3CDTF">2026-07-29T13:21:34Z</dcterms:modified>
</cp:coreProperties>
</file>